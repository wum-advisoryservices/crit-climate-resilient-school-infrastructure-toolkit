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963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957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633" y="1709739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824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53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844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028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822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731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43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853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778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21-Apr-26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139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 dirty="0">
                <a:solidFill>
                  <a:srgbClr val="0073B2"/>
                </a:solidFill>
              </a:rPr>
              <a:t>Climate-Resilient School Infrastructure Toolkit (CRIT)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sz="1800" dirty="0">
                <a:solidFill>
                  <a:srgbClr val="000000"/>
                </a:solidFill>
              </a:rPr>
              <a:t>Training for District Engineers, Education Planners &amp; Implementing Partners</a:t>
            </a:r>
          </a:p>
          <a:p>
            <a:r>
              <a:rPr sz="1800" dirty="0">
                <a:solidFill>
                  <a:srgbClr val="000000"/>
                </a:solidFill>
              </a:rPr>
              <a:t>Pilot Implementation Readiness Session</a:t>
            </a:r>
          </a:p>
          <a:p>
            <a:endParaRPr sz="1800" dirty="0">
              <a:solidFill>
                <a:srgbClr val="000000"/>
              </a:solidFill>
            </a:endParaRPr>
          </a:p>
          <a:p>
            <a:r>
              <a:rPr sz="1800" dirty="0">
                <a:solidFill>
                  <a:srgbClr val="000000"/>
                </a:solidFill>
              </a:rPr>
              <a:t>WUM Advisory Services</a:t>
            </a:r>
          </a:p>
          <a:p>
            <a:r>
              <a:rPr sz="1800" dirty="0">
                <a:solidFill>
                  <a:srgbClr val="000000"/>
                </a:solidFill>
              </a:rPr>
              <a:t>UNICEF Climate Ventures 2026 (Application)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Slide 1 of 37   |   CRIT – Climate-Resilient School Infrastructure Toolkit | WUM Advisory Services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480" y="119942"/>
            <a:ext cx="3294332" cy="21962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solidFill>
                  <a:srgbClr val="0073B2"/>
                </a:solidFill>
              </a:rPr>
              <a:t>Training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l">
              <a:spcAft>
                <a:spcPts val="600"/>
              </a:spcAft>
            </a:pPr>
            <a:r>
              <a:rPr sz="1800" dirty="0">
                <a:solidFill>
                  <a:srgbClr val="000000"/>
                </a:solidFill>
              </a:rPr>
              <a:t>By the end of this training, participants will be able to:</a:t>
            </a:r>
          </a:p>
          <a:p>
            <a:pPr algn="l">
              <a:spcAft>
                <a:spcPts val="600"/>
              </a:spcAft>
            </a:pPr>
            <a:r>
              <a:rPr sz="1800" dirty="0">
                <a:solidFill>
                  <a:srgbClr val="000000"/>
                </a:solidFill>
              </a:rPr>
              <a:t>Understand climate risks affecting school infrastructure in Pakistan</a:t>
            </a:r>
          </a:p>
          <a:p>
            <a:pPr algn="l">
              <a:spcAft>
                <a:spcPts val="600"/>
              </a:spcAft>
            </a:pPr>
            <a:r>
              <a:rPr sz="1800" dirty="0">
                <a:solidFill>
                  <a:srgbClr val="000000"/>
                </a:solidFill>
              </a:rPr>
              <a:t>Apply CRIT risk screening and vulnerability scoring tools</a:t>
            </a:r>
          </a:p>
          <a:p>
            <a:pPr algn="l">
              <a:spcAft>
                <a:spcPts val="600"/>
              </a:spcAft>
            </a:pPr>
            <a:r>
              <a:rPr sz="1800" dirty="0">
                <a:solidFill>
                  <a:srgbClr val="000000"/>
                </a:solidFill>
              </a:rPr>
              <a:t>Identify and select appropriate retrofitting packages</a:t>
            </a:r>
          </a:p>
          <a:p>
            <a:pPr algn="l">
              <a:spcAft>
                <a:spcPts val="600"/>
              </a:spcAft>
            </a:pPr>
            <a:r>
              <a:rPr sz="1800" dirty="0">
                <a:solidFill>
                  <a:srgbClr val="000000"/>
                </a:solidFill>
              </a:rPr>
              <a:t>Use CRIT costing and planning templates</a:t>
            </a:r>
          </a:p>
          <a:p>
            <a:pPr algn="l">
              <a:spcAft>
                <a:spcPts val="600"/>
              </a:spcAft>
            </a:pPr>
            <a:r>
              <a:rPr sz="1800" dirty="0">
                <a:solidFill>
                  <a:srgbClr val="000000"/>
                </a:solidFill>
              </a:rPr>
              <a:t>Apply implementation and monitoring workflows aligned with UNICEF standards</a:t>
            </a:r>
          </a:p>
          <a:p>
            <a:pPr algn="l">
              <a:spcAft>
                <a:spcPts val="600"/>
              </a:spcAft>
            </a:pPr>
            <a:r>
              <a:rPr sz="1800" dirty="0">
                <a:solidFill>
                  <a:srgbClr val="000000"/>
                </a:solidFill>
              </a:rPr>
              <a:t>Strengthen community participation and sustainability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Slide 2 of 37   |   CRIT – Climate-Resilient School Infrastructure Toolkit | WUM Advisory Services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3B2"/>
                </a:solidFill>
              </a:rPr>
              <a:t>Why Climate-Resilient Schools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Climate shocks increasingly disrupt education systems through: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Flood damage and waterlogging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Heatwaves affecting classroom safety and attendance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Storms causing structural damage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WASH system breakdowns during emergencies</a:t>
            </a:r>
          </a:p>
          <a:p>
            <a:pPr lvl="1" algn="l"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</a:rPr>
              <a:t>Result: school closures, learning loss, increased dropout risk, higher reconstruction costs.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Slide 3 of 37   |   CRIT – Climate-Resilient School Infrastructure Toolkit | WUM Advisory Services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119932"/>
            <a:ext cx="7855527" cy="42996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3B2"/>
                </a:solidFill>
              </a:rPr>
              <a:t>Pakistan Context – Key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Major infrastructure threats include: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Monsoon flooding (river and flash floods)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Extreme heat and urban heat stress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Poor drainage and waterlogging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Weak roofing and boundary structures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Limited climate-resilient design standards in public schools</a:t>
            </a:r>
          </a:p>
          <a:p>
            <a:pPr lvl="1" algn="l"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</a:rPr>
              <a:t>Most affected: rural, low-income, and disaster-prone districts.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Slide 4 of 37   |   CRIT – Climate-Resilient School Infrastructure Toolkit | WUM Advisory Services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3B2"/>
                </a:solidFill>
              </a:rPr>
              <a:t>UNICEF Approach – Safe Schools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CRIT aligns with UNICEF’s Safe Schools approach: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Safe Learning Environments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Risk-informed planning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Resilient infrastructure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WASH continuity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Preparedness and response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Equity and inclusion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Slide 5 of 37   |   CRIT – Climate-Resilient School Infrastructure Toolkit | WUM Advisory Services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3B2"/>
                </a:solidFill>
              </a:rPr>
              <a:t>What is CRIT?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CRIT is an open-source toolkit providing: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Climate risk screening tools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Vulnerability scoring templates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Modular design standards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Retrofitting guidance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Costing and BOQ templates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Implementation SOPs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Monitoring &amp; evaluation indicators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Community engagement tools</a:t>
            </a:r>
          </a:p>
          <a:p>
            <a:pPr lvl="1" algn="l"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</a:rPr>
              <a:t>Goal: ensure safe learning continuity during climate shocks.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Slide 6 of 37   |   CRIT – Climate-Resilient School Infrastructure Toolkit | WUM Advisory Services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3B2"/>
                </a:solidFill>
              </a:rPr>
              <a:t>CRIT Modules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CRIT consists of 7 modules: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1. Risk Assessment &amp; Prioritization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2. Climate-Resilient Design Templates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3. Retrofitting Guidelines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4. Costing Tools &amp; Cost-Benefit Planning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5. Training &amp; Capacity Building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6. Pilot Implementation &amp; Governance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7. Sample Data &amp; Demonstration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Slide 7 of 37   |   CRIT – Climate-Resilient School Infrastructure Toolkit | WUM Advisory Services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3B2"/>
                </a:solidFill>
              </a:rPr>
              <a:t>CRIT Implementation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CRIT follows a structured process: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1. Identify hazard exposure areas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2. Assess schools using CRIT tool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3. Score and rank risk levels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4. Select retrofit package(s)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5. Prepare BOQ and budget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6. Implement with quality monitoring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7. Engage community and ensure maintenance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8. Track outcomes and learning continuity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Slide 8 of 37   |   CRIT – Climate-Resilient School Infrastructure Toolkit | WUM Advisory Services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3B2"/>
                </a:solidFill>
              </a:rPr>
              <a:t>Module 01 – Risk Screening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Module 01 helps answer: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Which schools are at highest risk?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Which hazards are most dangerous?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Which infrastructure elements are weakest?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Which communities are most vulnerable?</a:t>
            </a:r>
          </a:p>
          <a:p>
            <a:pPr lvl="1" algn="l"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</a:rPr>
              <a:t>Outputs: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Composite risk score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Risk classification (Low–Critical)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Priority ranking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Slide 9 of 37   |   CRIT – Climate-Resilient School Infrastructure Toolkit | WUM Advisory Services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3B2"/>
                </a:solidFill>
              </a:rPr>
              <a:t>Hazard Exposure Scoring (0–3)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/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Hazards assessed include: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Flooding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Waterlogging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Heatwaves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Storms / high winds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Drought / water scarcity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Landslides (if applicable)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Earthquake risk (if applicable)</a:t>
            </a:r>
          </a:p>
          <a:p>
            <a:pPr lvl="1" algn="l"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</a:rPr>
              <a:t>Score Meaning: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0 = no exposure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1 = low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2 = medium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3 = high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Slide 10 of 37   |   CRIT – Climate-Resilient School Infrastructure Toolkit | WUM Advisory Services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3B2"/>
                </a:solidFill>
              </a:rPr>
              <a:t>Infrastructure Vulnerability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/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Infrastructure components scored include: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Foundation/plinth height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Roof condition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Wall cracks/stability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Drainage system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Ventilation and heat protection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WASH resilience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Electrical safety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Boundary wall safety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Emergency exits / assembly 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Slide 11 of 37   |   CRIT – Climate-Resilient School Infrastructure Toolkit | WUM Advisory Services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3B2"/>
                </a:solidFill>
              </a:rPr>
              <a:t>Social Vulnerability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Social risk indicators include: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Poverty vulnerability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Remoteness / no alternative schools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Girls’ dependency on local school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Disability access barriers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Dropout history during shocks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Weak coping capacity</a:t>
            </a:r>
          </a:p>
          <a:p>
            <a:pPr lvl="1" algn="l"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</a:rPr>
              <a:t>Equity lens is mandatory.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Slide 12 of 37   |   CRIT – Climate-Resilient School Infrastructure Toolkit | WUM Advisory Services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3B2"/>
                </a:solidFill>
              </a:rPr>
              <a:t>Composite Risk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 algn="l"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</a:rPr>
              <a:t>Composite Risk Score = Hazard Exposure + Infrastructure Vulnerability + Social Vulnerability</a:t>
            </a:r>
          </a:p>
          <a:p>
            <a:pPr lvl="1" algn="l"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</a:rPr>
              <a:t>Risk Classification: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0–10 = Low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11–20 = Medium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21–30 = High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31+ = Critical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Slide 13 of 37   |   CRIT – Climate-Resilient School Infrastructure Toolkit | WUM Advisory Services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3B2"/>
                </a:solidFill>
              </a:rPr>
              <a:t>Exercise 1 – Risk Screening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Group activity: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Review a sample school profile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Assign hazard exposure scores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Assign vulnerability scores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Calculate composite score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Identify risk level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Recommend CRIT response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Slide 14 of 37   |   CRIT – Climate-Resilient School Infrastructure Toolkit | WUM Advisory Services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3B2"/>
                </a:solidFill>
              </a:rPr>
              <a:t>Module 02 – Climate-Resilient Design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Guidance for: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Flood protection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Heat mitigation and passive cooling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Storm/wind strengthening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Inclusive design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Resilient WASH infrastructure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Safe emergency evacuation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Slide 15 of 37   |   CRIT – Climate-Resilient School Infrastructure Toolkit | WUM Advisory Services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3B2"/>
                </a:solidFill>
              </a:rPr>
              <a:t>Flood-Resilient Design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Key design features: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Raised plinth above flood line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Perimeter drainage and slope control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Water-resistant flooring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Elevated storage for learning materials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Safe access routes during flood season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Strengthened boundary walls where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Slide 16 of 37   |   CRIT – Climate-Resilient School Infrastructure Toolkit | WUM Advisory Services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3B2"/>
                </a:solidFill>
              </a:rPr>
              <a:t>Heat Mitigation Design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Heat-resilient schools should include: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Cross ventilation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High ceilings for airflow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Reflective cool roofs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Veranda shading and overhangs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Shade trees and courtyard design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Hydration and drinking water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Slide 17 of 37   |   CRIT – Climate-Resilient School Infrastructure Toolkit | WUM Advisory Services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3B2"/>
                </a:solidFill>
              </a:rPr>
              <a:t>Storm and Wind Resilience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Storm safety improvements include: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Roof anchoring reinforcement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Strong truss systems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Safe windows and doors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Removal of unsafe external structures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Protective boundary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Slide 18 of 37   |   CRIT – Climate-Resilient School Infrastructure Toolkit | WUM Advisory Services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3B2"/>
                </a:solidFill>
              </a:rPr>
              <a:t>WASH Resilience and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Resilient WASH systems include: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Flood-protected toilets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Gender-segregated toilets with privacy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Handwashing stations with drainage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Water storage for drought/heat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Accessible toilets for children with disabilities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Slide 19 of 37   |   CRIT – Climate-Resilient School Infrastructure Toolkit | WUM Advisory Services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3B2"/>
                </a:solidFill>
              </a:rPr>
              <a:t>Inclusion and Accessibility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Minimum inclusive standards: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Ramps to classrooms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Safe pathways and handrails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Accessible toilets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Privacy for girls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Lighting and safety signage</a:t>
            </a:r>
          </a:p>
          <a:p>
            <a:pPr lvl="1" algn="l"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</a:rPr>
              <a:t>CRIT prioritizes equity and child rights.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Slide 20 of 37   |   CRIT – Climate-Resilient School Infrastructure Toolkit | WUM Advisory Services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3B2"/>
                </a:solidFill>
              </a:rPr>
              <a:t>Module 03 – Retrofitting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CRIT retrofitting provides modular solutions: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Flood retrofitting package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Heat mitigation package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Storm strengthening package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WASH resilience package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Electrical safety package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Disability inclusion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Slide 21 of 37   |   CRIT – Climate-Resilient School Infrastructure Toolkit | WUM Advisory Services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3B2"/>
                </a:solidFill>
              </a:rPr>
              <a:t>Retrofitting Package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Selection depends on: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Hazard exposure scores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Infrastructure weakness points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Community needs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Budget constraints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Urgency (safety risk)</a:t>
            </a:r>
          </a:p>
          <a:p>
            <a:pPr lvl="1" algn="l"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</a:rPr>
              <a:t>Critical schools must be prioritized first.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Slide 22 of 37   |   CRIT – Climate-Resilient School Infrastructure Toolkit | WUM Advisory Services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3B2"/>
                </a:solidFill>
              </a:rPr>
              <a:t>Module 04 – Costing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CRIT costing tools support: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BOQ preparation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Module-based costing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Cost per child estimation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Retrofitting vs rebuilding comparisons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Cost-benefit analysis for donor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Slide 23 of 37   |   CRIT – Climate-Resilient School Infrastructure Toolkit | WUM Advisory Services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3B2"/>
                </a:solidFill>
              </a:rPr>
              <a:t>Costing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Example costing outputs: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Total retrofit cost per school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Cost per classroom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Cost per child beneficiary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Estimated reduction in rehabilitation costs over 5 years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Supervision + contingency budget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Slide 24 of 37   |   CRIT – Climate-Resilient School Infrastructure Toolkit | WUM Advisory Services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3B2"/>
                </a:solidFill>
              </a:rPr>
              <a:t>Module 05 – Capacity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CRIT supports training for: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District engineers and planners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Head teachers and SMC members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Community volunteers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Contractors and site supervisors</a:t>
            </a:r>
          </a:p>
          <a:p>
            <a:pPr lvl="1" algn="l"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</a:rPr>
              <a:t>Capacity building is essential for sustainability.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Slide 25 of 37   |   CRIT – Climate-Resilient School Infrastructure Toolkit | WUM Advisory Services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3B2"/>
                </a:solidFill>
              </a:rPr>
              <a:t>Module 06 – Pilot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Pilot approach includes: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District selection criteria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Baseline assessment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Retrofitting demonstration works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Governance and coordination SOP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Monitoring and reporting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Endline evaluation and toolkit refinement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Slide 26 of 37   |   CRIT – Climate-Resilient School Infrastructure Toolkit | WUM Advisory Services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3B2"/>
                </a:solidFill>
              </a:rPr>
              <a:t>Pilot Governance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Suggested pilot governance: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Provincial Steering Committee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District Implementation Unit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Technical Quality Assurance Team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School Management Committee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Community Oversight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Slide 27 of 37   |   CRIT – Climate-Resilient School Infrastructure Toolkit | WUM Advisory Services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3B2"/>
                </a:solidFill>
              </a:rPr>
              <a:t>Safeguarding and Child 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All CRIT implementation must comply with: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Child safeguarding principles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Contractor code of conduct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Safe construction zones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Complaint and reporting mechanisms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Gender-sensitive implementation protocols</a:t>
            </a:r>
          </a:p>
          <a:p>
            <a:pPr lvl="1" algn="l"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</a:rPr>
              <a:t>No compromise on child safety.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Slide 28 of 37   |   CRIT – Climate-Resilient School Infrastructure Toolkit | WUM Advisory Services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3B2"/>
                </a:solidFill>
              </a:rPr>
              <a:t>Monitoring &amp; Evaluation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CRIT M&amp;E includes: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Schools assessed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Schools retrofitted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Resilience score improvement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Reduction in closure days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Improved thermal comfort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WASH continuity improvement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Community participation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Slide 29 of 37   |   CRIT – Climate-Resilient School Infrastructure Toolkit | WUM Advisory Services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3B2"/>
                </a:solidFill>
              </a:rPr>
              <a:t>Evidence and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Minimum evidence required: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Before/after photos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BOQ and completion certificates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Safety inspection checklist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Community maintenance plan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Attendance records (training + engagement)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Baseline and endline scoring sheets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Slide 30 of 37   |   CRIT – Climate-Resilient School Infrastructure Toolkit | WUM Advisory Services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3B2"/>
                </a:solidFill>
              </a:rPr>
              <a:t>Sustainability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CRIT sustainability is ensured through: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Government ownership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Integration into routine planning cycles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Community maintenance committees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Low-cost preventive upgrades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Training and capacity building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Local materials and constructability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Slide 31 of 37   |   CRIT – Climate-Resilient School Infrastructure Toolkit | WUM Advisory Services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3B2"/>
                </a:solidFill>
              </a:rPr>
              <a:t>Equity and Climate Justice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CRIT prioritizes: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Rural and marginalized districts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Girls’ schools and gender-sensitive infrastructure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Children with disabilities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Communities with limited access to alternative schools</a:t>
            </a:r>
          </a:p>
          <a:p>
            <a:pPr lvl="1" algn="l"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</a:rPr>
              <a:t>Resilient schools = equitable learning continuity.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Slide 32 of 37   |   CRIT – Climate-Resilient School Infrastructure Toolkit | WUM Advisory Services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3B2"/>
                </a:solidFill>
              </a:rPr>
              <a:t>Key Risks and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/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Common risks: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Delayed procurement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Contractor quality issues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Lack of maintenance capacity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Insufficient budget allocation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Community disengagement</a:t>
            </a:r>
          </a:p>
          <a:p>
            <a:pPr lvl="1" algn="l"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</a:rPr>
              <a:t>Mitigation: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Quality assurance SOP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Training and supervision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Phased implementation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Community ownership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Slide 33 of 37   |   CRIT – Climate-Resilient School Infrastructure Toolkit | WUM Advisory Services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3B2"/>
                </a:solidFill>
              </a:rPr>
              <a:t>Exercise 2 – Retrofitting Plan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Group activity: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Select one sample school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Identify hazard risks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Choose retrofitting packages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Estimate costs using CRIT costing sheet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Present plan and expected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Slide 34 of 37   |   CRIT – Climate-Resilient School Infrastructure Toolkit | WUM Advisory Services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3B2"/>
                </a:solidFill>
              </a:rPr>
              <a:t>Summary – What CRIT Delivers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CRIT enables: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Standardized school risk assessment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Climate-resilient design solutions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Affordable retrofitting options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Improved WASH resilience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Scalable implementation planning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Measurable outcomes and learning continuity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Slide 35 of 37   |   CRIT – Climate-Resilient School Infrastructure Toolkit | WUM Advisory Services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3B2"/>
                </a:solidFill>
              </a:rP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After training, participants should: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Apply CRIT assessment tool in target schools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Compile risk prioritization list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Develop BOQ and budgets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Coordinate with district education authorities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Begin pilot retrofitting implementation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Report progress through CRIT M&amp;E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Slide 36 of 37   |   CRIT – Climate-Resilient School Infrastructure Toolkit | WUM Advisory Services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3B2"/>
                </a:solidFill>
              </a:rP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 algn="l"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</a:rPr>
              <a:t>Thank You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</a:rPr>
              <a:t>For collaboration on safe, resilient learning environments.</a:t>
            </a:r>
          </a:p>
          <a:p>
            <a:pPr lvl="1" algn="l"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</a:rPr>
              <a:t>Contact: WUM Advisory Services</a:t>
            </a:r>
          </a:p>
          <a:p>
            <a:pPr lvl="1" algn="l"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</a:rPr>
              <a:t>Project: CRIT – Climate-Resilient School Infrastructure Toolkit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Slide 37 of 37   |   CRIT – Climate-Resilient School Infrastructure Toolkit | WUM Advisory Services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1845</Words>
  <Application>Microsoft Office PowerPoint</Application>
  <PresentationFormat>Custom</PresentationFormat>
  <Paragraphs>377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Calibri Light</vt:lpstr>
      <vt:lpstr>Office Theme</vt:lpstr>
      <vt:lpstr>Climate-Resilient School Infrastructure Toolkit (CRIT)</vt:lpstr>
      <vt:lpstr>Training Objectives</vt:lpstr>
      <vt:lpstr>Why Climate-Resilient Schools Matter</vt:lpstr>
      <vt:lpstr>Pakistan Context – Key Risks</vt:lpstr>
      <vt:lpstr>UNICEF Approach – Safe Schools</vt:lpstr>
      <vt:lpstr>What is CRIT?</vt:lpstr>
      <vt:lpstr>CRIT Modules Overview</vt:lpstr>
      <vt:lpstr>CRIT Implementation Flow</vt:lpstr>
      <vt:lpstr>Module 01 – Risk Screening</vt:lpstr>
      <vt:lpstr>Hazard Exposure Scoring (0–3)</vt:lpstr>
      <vt:lpstr>Infrastructure Vulnerability Scoring</vt:lpstr>
      <vt:lpstr>Social Vulnerability Scoring</vt:lpstr>
      <vt:lpstr>Composite Risk Score</vt:lpstr>
      <vt:lpstr>Exercise 1 – Risk Screening Practice</vt:lpstr>
      <vt:lpstr>Module 02 – Climate-Resilient Design Standards</vt:lpstr>
      <vt:lpstr>Flood-Resilient Design Features</vt:lpstr>
      <vt:lpstr>Heat Mitigation Design Features</vt:lpstr>
      <vt:lpstr>Storm and Wind Resilience</vt:lpstr>
      <vt:lpstr>WASH Resilience and Safety</vt:lpstr>
      <vt:lpstr>Inclusion and Accessibility</vt:lpstr>
      <vt:lpstr>Module 03 – Retrofitting Packages</vt:lpstr>
      <vt:lpstr>Retrofitting Package Selection</vt:lpstr>
      <vt:lpstr>Module 04 – Costing Tools</vt:lpstr>
      <vt:lpstr>Costing Example</vt:lpstr>
      <vt:lpstr>Module 05 – Capacity Building</vt:lpstr>
      <vt:lpstr>Module 06 – Pilot Implementation</vt:lpstr>
      <vt:lpstr>Pilot Governance Structure</vt:lpstr>
      <vt:lpstr>Safeguarding and Child Protection</vt:lpstr>
      <vt:lpstr>Monitoring &amp; Evaluation Framework</vt:lpstr>
      <vt:lpstr>Evidence and Documentation</vt:lpstr>
      <vt:lpstr>Sustainability Planning</vt:lpstr>
      <vt:lpstr>Equity and Climate Justice</vt:lpstr>
      <vt:lpstr>Key Risks and Mitigation</vt:lpstr>
      <vt:lpstr>Exercise 2 – Retrofitting Plan Development</vt:lpstr>
      <vt:lpstr>Summary – What CRIT Delivers</vt:lpstr>
      <vt:lpstr>Next Steps</vt:lpstr>
      <vt:lpstr>Closing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Climate-Resilient School Infrastructure Toolkit (CRIT)</dc:title>
  <dc:subject/>
  <dc:creator/>
  <cp:keywords/>
  <dc:description>generated using python-pptx</dc:description>
  <cp:lastModifiedBy>WAQAS</cp:lastModifiedBy>
  <cp:revision>2</cp:revision>
  <dcterms:created xsi:type="dcterms:W3CDTF">2013-01-27T09:14:16Z</dcterms:created>
  <dcterms:modified xsi:type="dcterms:W3CDTF">2026-04-21T11:10:54Z</dcterms:modified>
  <cp:category/>
</cp:coreProperties>
</file>